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800" kern="0" dirty="0">
                <a:solidFill>
                  <a:srgbClr val="C8A9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PHOTO  •  PLATEFORME MÉTIER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201168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Vendez plus.</a:t>
            </a:r>
            <a:endParaRPr lang="en-US" sz="6400" dirty="0"/>
          </a:p>
          <a:p>
            <a:pPr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Livrez mieux.</a:t>
            </a:r>
            <a:endParaRPr lang="en-US" sz="6400" dirty="0"/>
          </a:p>
          <a:p>
            <a:pPr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Gardez vos clients.</a:t>
            </a:r>
            <a:endParaRPr lang="en-US" sz="6400" dirty="0"/>
          </a:p>
        </p:txBody>
      </p:sp>
      <p:sp>
        <p:nvSpPr>
          <p:cNvPr id="4" name="Text 2"/>
          <p:cNvSpPr/>
          <p:nvPr/>
        </p:nvSpPr>
        <p:spPr>
          <a:xfrm>
            <a:off x="731520" y="49377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site complet pour photographe pro, branché à Stripe, prêt en 48h.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31520" y="5486400"/>
            <a:ext cx="1371600" cy="45720"/>
          </a:xfrm>
          <a:prstGeom prst="rect">
            <a:avLst/>
          </a:prstGeom>
          <a:solidFill>
            <a:srgbClr val="C8A97E"/>
          </a:solidFill>
          <a:ln w="12700">
            <a:solidFill>
              <a:srgbClr val="C8A97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56692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Evan Orofino — Développeur Symfony freelance, Lyon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800" kern="0" dirty="0">
                <a:solidFill>
                  <a:srgbClr val="C8A9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CONSTAT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 marché des sites de photographes est bloqué dans le passé.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2377440"/>
            <a:ext cx="3566160" cy="3108960"/>
          </a:xfrm>
          <a:prstGeom prst="rect">
            <a:avLst/>
          </a:prstGeom>
          <a:solidFill>
            <a:srgbClr val="F8F6F1"/>
          </a:solidFill>
          <a:ln w="12700">
            <a:solidFill>
              <a:srgbClr val="C8A97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2377440"/>
            <a:ext cx="73152" cy="3108960"/>
          </a:xfrm>
          <a:prstGeom prst="rect">
            <a:avLst/>
          </a:prstGeom>
          <a:solidFill>
            <a:srgbClr val="C8A97E"/>
          </a:solidFill>
          <a:ln w="12700">
            <a:solidFill>
              <a:srgbClr val="C8A97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2743200"/>
            <a:ext cx="301752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70%</a:t>
            </a:r>
            <a:endParaRPr lang="en-US" sz="7200" dirty="0"/>
          </a:p>
        </p:txBody>
      </p:sp>
      <p:sp>
        <p:nvSpPr>
          <p:cNvPr id="7" name="Text 5"/>
          <p:cNvSpPr/>
          <p:nvPr/>
        </p:nvSpPr>
        <p:spPr>
          <a:xfrm>
            <a:off x="731520" y="4206240"/>
            <a:ext cx="30175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sites de photographes pro sont des WordPress avec galerie statique — aucune vraie automatisation.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297680" y="2377440"/>
            <a:ext cx="3566160" cy="3108960"/>
          </a:xfrm>
          <a:prstGeom prst="rect">
            <a:avLst/>
          </a:prstGeom>
          <a:solidFill>
            <a:srgbClr val="F8F6F1"/>
          </a:solidFill>
          <a:ln w="12700">
            <a:solidFill>
              <a:srgbClr val="C8A97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97680" y="2377440"/>
            <a:ext cx="73152" cy="3108960"/>
          </a:xfrm>
          <a:prstGeom prst="rect">
            <a:avLst/>
          </a:prstGeom>
          <a:solidFill>
            <a:srgbClr val="C8A97E"/>
          </a:solidFill>
          <a:ln w="12700">
            <a:solidFill>
              <a:srgbClr val="C8A97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0" y="2743200"/>
            <a:ext cx="301752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3h+</a:t>
            </a:r>
            <a:endParaRPr lang="en-US" sz="7200" dirty="0"/>
          </a:p>
        </p:txBody>
      </p:sp>
      <p:sp>
        <p:nvSpPr>
          <p:cNvPr id="11" name="Text 9"/>
          <p:cNvSpPr/>
          <p:nvPr/>
        </p:nvSpPr>
        <p:spPr>
          <a:xfrm>
            <a:off x="4572000" y="4206240"/>
            <a:ext cx="30175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passées chaque semaine par le photographe à faire de la facturation, du suivi et de la livraison manuelle.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138160" y="2377440"/>
            <a:ext cx="3566160" cy="3108960"/>
          </a:xfrm>
          <a:prstGeom prst="rect">
            <a:avLst/>
          </a:prstGeom>
          <a:solidFill>
            <a:srgbClr val="F8F6F1"/>
          </a:solidFill>
          <a:ln w="12700">
            <a:solidFill>
              <a:srgbClr val="C8A97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138160" y="2377440"/>
            <a:ext cx="73152" cy="3108960"/>
          </a:xfrm>
          <a:prstGeom prst="rect">
            <a:avLst/>
          </a:prstGeom>
          <a:solidFill>
            <a:srgbClr val="C8A97E"/>
          </a:solidFill>
          <a:ln w="12700">
            <a:solidFill>
              <a:srgbClr val="C8A97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412480" y="2743200"/>
            <a:ext cx="301752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—40%</a:t>
            </a:r>
            <a:endParaRPr lang="en-US" sz="7200" dirty="0"/>
          </a:p>
        </p:txBody>
      </p:sp>
      <p:sp>
        <p:nvSpPr>
          <p:cNvPr id="15" name="Text 13"/>
          <p:cNvSpPr/>
          <p:nvPr/>
        </p:nvSpPr>
        <p:spPr>
          <a:xfrm>
            <a:off x="8412480" y="4206240"/>
            <a:ext cx="30175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chiffre d'affaires potentiel perdu : pas de boutique tirages, pas de réservation directe en ligne.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48640" y="57607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Le photographe a besoin d'un outil qui fait grandir son business, pas d'un catalogue figé.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Photo • Pitch commercial • Evan Orofino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881360" y="649224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800" kern="0" dirty="0">
                <a:solidFill>
                  <a:srgbClr val="C8A9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Studio Photo : votre business, en une seule plateforme.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seule installation, sous votre nom de domaine, qui couvre tout votre cycle de vente — du premier visiteur jusqu'à la livraison des photos finales.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1280160" y="3108960"/>
            <a:ext cx="640080" cy="640080"/>
          </a:xfrm>
          <a:prstGeom prst="ellipse">
            <a:avLst/>
          </a:prstGeom>
          <a:solidFill>
            <a:srgbClr val="C8A97E"/>
          </a:solidFill>
          <a:ln w="12700">
            <a:solidFill>
              <a:srgbClr val="C8A97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31089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48640" y="393192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Vitrine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40080" y="4434840"/>
            <a:ext cx="19202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Galerie + blog + témoignages SEO-optimisés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606040" y="3429000"/>
            <a:ext cx="228600" cy="0"/>
          </a:xfrm>
          <a:prstGeom prst="line">
            <a:avLst/>
          </a:prstGeom>
          <a:noFill/>
          <a:ln w="19050">
            <a:solidFill>
              <a:srgbClr val="C8A97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520440" y="3108960"/>
            <a:ext cx="640080" cy="640080"/>
          </a:xfrm>
          <a:prstGeom prst="ellipse">
            <a:avLst/>
          </a:prstGeom>
          <a:solidFill>
            <a:srgbClr val="C8A97E"/>
          </a:solidFill>
          <a:ln w="12700">
            <a:solidFill>
              <a:srgbClr val="C8A97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0440" y="31089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2788920" y="393192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Devis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2880360" y="4434840"/>
            <a:ext cx="19202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Formulaire intelligent + email automatique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846320" y="3429000"/>
            <a:ext cx="228600" cy="0"/>
          </a:xfrm>
          <a:prstGeom prst="line">
            <a:avLst/>
          </a:prstGeom>
          <a:noFill/>
          <a:ln w="19050">
            <a:solidFill>
              <a:srgbClr val="C8A97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760720" y="3108960"/>
            <a:ext cx="640080" cy="640080"/>
          </a:xfrm>
          <a:prstGeom prst="ellipse">
            <a:avLst/>
          </a:prstGeom>
          <a:solidFill>
            <a:srgbClr val="C8A97E"/>
          </a:solidFill>
          <a:ln w="12700">
            <a:solidFill>
              <a:srgbClr val="C8A97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760720" y="31089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5029200" y="393192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Réservation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5120640" y="4434840"/>
            <a:ext cx="19202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Acompte CB Stripe + calendrier dispo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086600" y="3429000"/>
            <a:ext cx="228600" cy="0"/>
          </a:xfrm>
          <a:prstGeom prst="line">
            <a:avLst/>
          </a:prstGeom>
          <a:noFill/>
          <a:ln w="19050">
            <a:solidFill>
              <a:srgbClr val="C8A97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001000" y="3108960"/>
            <a:ext cx="640080" cy="640080"/>
          </a:xfrm>
          <a:prstGeom prst="ellipse">
            <a:avLst/>
          </a:prstGeom>
          <a:solidFill>
            <a:srgbClr val="C8A97E"/>
          </a:solidFill>
          <a:ln w="12700">
            <a:solidFill>
              <a:srgbClr val="C8A97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001000" y="31089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7269480" y="393192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Livraison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7360920" y="4434840"/>
            <a:ext cx="19202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Galerie privée client + ZIP téléchargeable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9326880" y="3429000"/>
            <a:ext cx="228600" cy="0"/>
          </a:xfrm>
          <a:prstGeom prst="line">
            <a:avLst/>
          </a:prstGeom>
          <a:noFill/>
          <a:ln w="19050">
            <a:solidFill>
              <a:srgbClr val="C8A97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241280" y="3108960"/>
            <a:ext cx="640080" cy="640080"/>
          </a:xfrm>
          <a:prstGeom prst="ellipse">
            <a:avLst/>
          </a:prstGeom>
          <a:solidFill>
            <a:srgbClr val="C8A97E"/>
          </a:solidFill>
          <a:ln w="12700">
            <a:solidFill>
              <a:srgbClr val="C8A97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241280" y="31089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9509760" y="393192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Vente++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9601200" y="4434840"/>
            <a:ext cx="19202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Boutique tirages + codes promo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48640" y="58521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plateforme, zéro friction, plus de revenus.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Photo • Pitch commercial • Evan Orofino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0881360" y="649224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800" kern="0" dirty="0">
                <a:solidFill>
                  <a:srgbClr val="C8A9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L'EXPÉRIENCE CLIENT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 que voit votre client, à chaque étape.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5303520" cy="2103120"/>
          </a:xfrm>
          <a:prstGeom prst="rect">
            <a:avLst/>
          </a:prstGeom>
          <a:solidFill>
            <a:srgbClr val="F8F6F1"/>
          </a:solidFill>
          <a:ln w="12700">
            <a:solidFill>
              <a:srgbClr val="E5E0D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2011680"/>
            <a:ext cx="5303520" cy="502920"/>
          </a:xfrm>
          <a:prstGeom prst="rect">
            <a:avLst/>
          </a:prstGeom>
          <a:solidFill>
            <a:srgbClr val="C8A97E"/>
          </a:solidFill>
          <a:ln w="12700">
            <a:solidFill>
              <a:srgbClr val="C8A97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011680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Avant la séance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2697480"/>
            <a:ext cx="475488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Découvre votre travail via votre galerie, lit vos avis, voit vos disponibilités en temps réel. Réserve sa date en 3 minutes avec acompte CB.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217920" y="2011680"/>
            <a:ext cx="5303520" cy="2103120"/>
          </a:xfrm>
          <a:prstGeom prst="rect">
            <a:avLst/>
          </a:prstGeom>
          <a:solidFill>
            <a:srgbClr val="F8F6F1"/>
          </a:solidFill>
          <a:ln w="12700">
            <a:solidFill>
              <a:srgbClr val="E5E0D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17920" y="2011680"/>
            <a:ext cx="5303520" cy="50292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0" y="2011680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Pendant la séance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92240" y="2697480"/>
            <a:ext cx="475488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Vous êtes serein : la date est verrouillée, l'acompte est encaissé, les attentes du client sont notées dans son dossier.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4389120"/>
            <a:ext cx="5303520" cy="2103120"/>
          </a:xfrm>
          <a:prstGeom prst="rect">
            <a:avLst/>
          </a:prstGeom>
          <a:solidFill>
            <a:srgbClr val="F8F6F1"/>
          </a:solidFill>
          <a:ln w="12700">
            <a:solidFill>
              <a:srgbClr val="E5E0D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0080" y="4389120"/>
            <a:ext cx="5303520" cy="502920"/>
          </a:xfrm>
          <a:prstGeom prst="rect">
            <a:avLst/>
          </a:prstGeom>
          <a:solidFill>
            <a:srgbClr val="C8A97E"/>
          </a:solidFill>
          <a:ln w="12700">
            <a:solidFill>
              <a:srgbClr val="C8A97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4389120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Après la séance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914400" y="5074920"/>
            <a:ext cx="475488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Reçoit un lien privé + mot de passe. Télécharge ses photos en HD individuellement ou en ZIP. Tout en lumière naturelle, design pro.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217920" y="4389120"/>
            <a:ext cx="5303520" cy="2103120"/>
          </a:xfrm>
          <a:prstGeom prst="rect">
            <a:avLst/>
          </a:prstGeom>
          <a:solidFill>
            <a:srgbClr val="F8F6F1"/>
          </a:solidFill>
          <a:ln w="12700">
            <a:solidFill>
              <a:srgbClr val="E5E0D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17920" y="4389120"/>
            <a:ext cx="5303520" cy="50292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92240" y="4389120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Plus tard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492240" y="5074920"/>
            <a:ext cx="475488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Achète un tirage d'art sur votre boutique. Reçoit votre newsletter. Vous recommande à ses amis avec un témoignage que vous publiez en 1 clic.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Photo • Pitch commercial • Evan Orofino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0881360" y="649224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800" kern="0" dirty="0">
                <a:solidFill>
                  <a:srgbClr val="C8A9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QUI EST INCLUS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Tout est livré clé en main. Pas d'add-on caché.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938528"/>
            <a:ext cx="411480" cy="411480"/>
          </a:xfrm>
          <a:prstGeom prst="ellipse">
            <a:avLst/>
          </a:prstGeom>
          <a:solidFill>
            <a:srgbClr val="C8A97E"/>
          </a:solidFill>
          <a:ln w="12700">
            <a:solidFill>
              <a:srgbClr val="C8A97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938528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✓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187452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Site vitrine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331720"/>
            <a:ext cx="31089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Accueil, galerie filtrable, prestations, témoignages, blog, à propos, FAQ, contact.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251960" y="1938528"/>
            <a:ext cx="411480" cy="411480"/>
          </a:xfrm>
          <a:prstGeom prst="ellipse">
            <a:avLst/>
          </a:prstGeom>
          <a:solidFill>
            <a:srgbClr val="C8A97E"/>
          </a:solidFill>
          <a:ln w="12700">
            <a:solidFill>
              <a:srgbClr val="C8A97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251960" y="1938528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✓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800600" y="187452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Galerie privée client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800600" y="2331720"/>
            <a:ext cx="31089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+ mot de passe, expiration auto, photos hors web public, téléchargement individuel ou ZIP.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046720" y="1938528"/>
            <a:ext cx="411480" cy="411480"/>
          </a:xfrm>
          <a:prstGeom prst="ellipse">
            <a:avLst/>
          </a:prstGeom>
          <a:solidFill>
            <a:srgbClr val="C8A97E"/>
          </a:solidFill>
          <a:ln w="12700">
            <a:solidFill>
              <a:srgbClr val="C8A97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046720" y="1938528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✓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595360" y="187452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Réservation en ligne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595360" y="2331720"/>
            <a:ext cx="31089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Calendrier des dispos, formulaire avec acompte 30% via Stripe Checkout.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401568"/>
            <a:ext cx="411480" cy="411480"/>
          </a:xfrm>
          <a:prstGeom prst="ellipse">
            <a:avLst/>
          </a:prstGeom>
          <a:solidFill>
            <a:srgbClr val="C8A97E"/>
          </a:solidFill>
          <a:ln w="12700">
            <a:solidFill>
              <a:srgbClr val="C8A97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401568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✓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005840" y="333756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Boutique tirages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005840" y="3794760"/>
            <a:ext cx="31089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Catalogue + panier session + checkout Stripe + codes promo + gestion stock.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251960" y="3401568"/>
            <a:ext cx="411480" cy="411480"/>
          </a:xfrm>
          <a:prstGeom prst="ellipse">
            <a:avLst/>
          </a:prstGeom>
          <a:solidFill>
            <a:srgbClr val="C8A97E"/>
          </a:solidFill>
          <a:ln w="12700">
            <a:solidFill>
              <a:srgbClr val="C8A97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251960" y="3401568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✓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4800600" y="333756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Dashboard analytics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800600" y="3794760"/>
            <a:ext cx="31089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KPI + 6 graphiques Chart.js : CA, conversions, photos vues, demandes par type.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8046720" y="3401568"/>
            <a:ext cx="411480" cy="411480"/>
          </a:xfrm>
          <a:prstGeom prst="ellipse">
            <a:avLst/>
          </a:prstGeom>
          <a:solidFill>
            <a:srgbClr val="C8A97E"/>
          </a:solidFill>
          <a:ln w="12700">
            <a:solidFill>
              <a:srgbClr val="C8A97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046720" y="3401568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✓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8595360" y="333756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Blog SEO + RSS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595360" y="3794760"/>
            <a:ext cx="31089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Éditeur Markdown, catégories, JSON-LD, flux RSS pour fidéliser et capter Google.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57200" y="4864608"/>
            <a:ext cx="411480" cy="411480"/>
          </a:xfrm>
          <a:prstGeom prst="ellipse">
            <a:avLst/>
          </a:prstGeom>
          <a:solidFill>
            <a:srgbClr val="C8A97E"/>
          </a:solidFill>
          <a:ln w="12700">
            <a:solidFill>
              <a:srgbClr val="C8A97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57200" y="4864608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✓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1005840" y="480060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Conformité RGPD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1005840" y="5257800"/>
            <a:ext cx="31089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Mentions légales, politique de confidentialité, bandeau cookies, droits utilisateurs.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4251960" y="4864608"/>
            <a:ext cx="411480" cy="411480"/>
          </a:xfrm>
          <a:prstGeom prst="ellipse">
            <a:avLst/>
          </a:prstGeom>
          <a:solidFill>
            <a:srgbClr val="C8A97E"/>
          </a:solidFill>
          <a:ln w="12700">
            <a:solidFill>
              <a:srgbClr val="C8A97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251960" y="4864608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✓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4800600" y="480060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Multi-langue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4800600" y="5257800"/>
            <a:ext cx="31089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 disponible en FR / EN, switcher dans la navigation.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8046720" y="4864608"/>
            <a:ext cx="411480" cy="411480"/>
          </a:xfrm>
          <a:prstGeom prst="ellipse">
            <a:avLst/>
          </a:prstGeom>
          <a:solidFill>
            <a:srgbClr val="C8A97E"/>
          </a:solidFill>
          <a:ln w="12700">
            <a:solidFill>
              <a:srgbClr val="C8A97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046720" y="4864608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✓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8595360" y="480060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 sombre + WebP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8595360" y="5257800"/>
            <a:ext cx="31089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adaptatif, images optimisées (WebP automatique, srcset Retina).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Photo • Pitch commercial • Evan Orofino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10881360" y="649224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800" kern="0" dirty="0">
                <a:solidFill>
                  <a:srgbClr val="C8A9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&amp; SÉCURITÉ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Construit aux standards des startups françaises.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Symfony 7.4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2395728"/>
            <a:ext cx="5943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français reconnu (Audi, Spotify, Drupal). Maintenu 5 ans en LTS.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2103120"/>
            <a:ext cx="36576" cy="548640"/>
          </a:xfrm>
          <a:prstGeom prst="rect">
            <a:avLst/>
          </a:prstGeom>
          <a:solidFill>
            <a:srgbClr val="C8A97E"/>
          </a:solidFill>
          <a:ln w="12700">
            <a:solidFill>
              <a:srgbClr val="C8A97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301752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49 tests automatisés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40080" y="3401568"/>
            <a:ext cx="5943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suite PHPUnit qui valide chaque fonctionnalité. Le site ne casse pas en silence.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3108960"/>
            <a:ext cx="36576" cy="548640"/>
          </a:xfrm>
          <a:prstGeom prst="rect">
            <a:avLst/>
          </a:prstGeom>
          <a:solidFill>
            <a:srgbClr val="C8A97E"/>
          </a:solidFill>
          <a:ln w="12700">
            <a:solidFill>
              <a:srgbClr val="C8A97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402336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CI/CD GitHub Actions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40080" y="4407408"/>
            <a:ext cx="5943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modification est testée automatiquement avant déploiement.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4114800"/>
            <a:ext cx="36576" cy="548640"/>
          </a:xfrm>
          <a:prstGeom prst="rect">
            <a:avLst/>
          </a:prstGeom>
          <a:solidFill>
            <a:srgbClr val="C8A97E"/>
          </a:solidFill>
          <a:ln w="12700">
            <a:solidFill>
              <a:srgbClr val="C8A97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502920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Stripe + RGPD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40080" y="5413248"/>
            <a:ext cx="5943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Paiement certifié niveau bancaire. Conformité européenne validée.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5120640"/>
            <a:ext cx="36576" cy="548640"/>
          </a:xfrm>
          <a:prstGeom prst="rect">
            <a:avLst/>
          </a:prstGeom>
          <a:solidFill>
            <a:srgbClr val="C8A97E"/>
          </a:solidFill>
          <a:ln w="12700">
            <a:solidFill>
              <a:srgbClr val="C8A97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132320" y="2011680"/>
            <a:ext cx="4572000" cy="402336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06640" y="2194560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8A9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PUBLIC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406640" y="2560320"/>
            <a:ext cx="4023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Vous voulez vérifier ?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7406640" y="3383280"/>
            <a:ext cx="4023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L'intégralité du code source est consultable publiquement sur GitHub. Aucun secret, aucune boîte noire.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406640" y="493776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9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github.com/EvanOROFINO/studio-photo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406640" y="544068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49 tests verts  •  ✓ CI passing  •  ✓ Dependabot actif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Photo • Pitch commercial • Evan Orofino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0881360" y="649224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800" kern="0" dirty="0">
                <a:solidFill>
                  <a:srgbClr val="C8A9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RETOUR SUR INVESTISSEMENT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Combien ça vous rapporte, en clair.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57600" cy="3657600"/>
          </a:xfrm>
          <a:prstGeom prst="rect">
            <a:avLst/>
          </a:prstGeom>
          <a:solidFill>
            <a:srgbClr val="F8F6F1"/>
          </a:solidFill>
          <a:ln w="12700">
            <a:solidFill>
              <a:srgbClr val="E5E0D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2743200"/>
            <a:ext cx="31089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+3 séances</a:t>
            </a:r>
            <a:endParaRPr lang="en-US" sz="5600" dirty="0"/>
          </a:p>
        </p:txBody>
      </p:sp>
      <p:sp>
        <p:nvSpPr>
          <p:cNvPr id="6" name="Text 4"/>
          <p:cNvSpPr/>
          <p:nvPr/>
        </p:nvSpPr>
        <p:spPr>
          <a:xfrm>
            <a:off x="594360" y="402336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mois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85800" y="4572000"/>
            <a:ext cx="292608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supplémentaires grâce à la réservation directe en ligne (au lieu d'aller-retours email).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251960" y="2103120"/>
            <a:ext cx="3657600" cy="365760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26280" y="2743200"/>
            <a:ext cx="31089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C8A97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+450 €</a:t>
            </a:r>
            <a:endParaRPr lang="en-US" sz="5600" dirty="0"/>
          </a:p>
        </p:txBody>
      </p:sp>
      <p:sp>
        <p:nvSpPr>
          <p:cNvPr id="10" name="Text 8"/>
          <p:cNvSpPr/>
          <p:nvPr/>
        </p:nvSpPr>
        <p:spPr>
          <a:xfrm>
            <a:off x="4526280" y="402336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mois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617720" y="4572000"/>
            <a:ext cx="292608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estimés via la boutique tirages (5 tirages vendus à 90 € de marge moyenne).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183880" y="2103120"/>
            <a:ext cx="3657600" cy="3657600"/>
          </a:xfrm>
          <a:prstGeom prst="rect">
            <a:avLst/>
          </a:prstGeom>
          <a:solidFill>
            <a:srgbClr val="F8F6F1"/>
          </a:solidFill>
          <a:ln w="12700">
            <a:solidFill>
              <a:srgbClr val="E5E0D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58200" y="2743200"/>
            <a:ext cx="31089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—2h</a:t>
            </a:r>
            <a:endParaRPr lang="en-US" sz="5600" dirty="0"/>
          </a:p>
        </p:txBody>
      </p:sp>
      <p:sp>
        <p:nvSpPr>
          <p:cNvPr id="14" name="Text 12"/>
          <p:cNvSpPr/>
          <p:nvPr/>
        </p:nvSpPr>
        <p:spPr>
          <a:xfrm>
            <a:off x="8458200" y="402336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semaine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549640" y="4572000"/>
            <a:ext cx="292608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économisées sur la facturation et la livraison manuelle (Stripe + galerie auto).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48640" y="60350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Avec un panier moyen mariage à 1 500 €, la plateforme s'auto-finance en 2 séances.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Photo • Pitch commercial • Evan Orofino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881360" y="649224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800" kern="0" dirty="0">
                <a:solidFill>
                  <a:srgbClr val="C8A9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SEUL PACK. TOUT INCLUS.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645920" y="1463040"/>
            <a:ext cx="8869680" cy="4572000"/>
          </a:xfrm>
          <a:prstGeom prst="rect">
            <a:avLst/>
          </a:prstGeom>
          <a:solidFill>
            <a:srgbClr val="FFFFFF"/>
          </a:solidFill>
          <a:ln w="25400">
            <a:solidFill>
              <a:srgbClr val="C8A97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011680" y="1737360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Pack Studio Photo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2011680" y="2286000"/>
            <a:ext cx="8138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 complet, déployé sous votre domaine, formé en 1 demi-journée.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2011680" y="283464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2 500 €</a:t>
            </a:r>
            <a:endParaRPr lang="en-US" sz="10000" dirty="0"/>
          </a:p>
        </p:txBody>
      </p:sp>
      <p:sp>
        <p:nvSpPr>
          <p:cNvPr id="7" name="Text 5"/>
          <p:cNvSpPr/>
          <p:nvPr/>
        </p:nvSpPr>
        <p:spPr>
          <a:xfrm>
            <a:off x="2011680" y="411480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TTC, payable en 2 fois sans frais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0" y="283464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Inclus :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315200" y="3328416"/>
            <a:ext cx="164592" cy="164592"/>
          </a:xfrm>
          <a:prstGeom prst="ellipse">
            <a:avLst/>
          </a:prstGeom>
          <a:solidFill>
            <a:srgbClr val="C8A97E"/>
          </a:solidFill>
          <a:ln w="12700">
            <a:solidFill>
              <a:srgbClr val="C8A97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89520" y="32918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Développement complet sur mesure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315200" y="3712464"/>
            <a:ext cx="164592" cy="164592"/>
          </a:xfrm>
          <a:prstGeom prst="ellipse">
            <a:avLst/>
          </a:prstGeom>
          <a:solidFill>
            <a:srgbClr val="C8A97E"/>
          </a:solidFill>
          <a:ln w="12700">
            <a:solidFill>
              <a:srgbClr val="C8A97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589520" y="367588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Personnalisation à votre identité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315200" y="4096512"/>
            <a:ext cx="164592" cy="164592"/>
          </a:xfrm>
          <a:prstGeom prst="ellipse">
            <a:avLst/>
          </a:prstGeom>
          <a:solidFill>
            <a:srgbClr val="C8A97E"/>
          </a:solidFill>
          <a:ln w="12700">
            <a:solidFill>
              <a:srgbClr val="C8A97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589520" y="405993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Installation sur votre nom de domaine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315200" y="4480560"/>
            <a:ext cx="164592" cy="164592"/>
          </a:xfrm>
          <a:prstGeom prst="ellipse">
            <a:avLst/>
          </a:prstGeom>
          <a:solidFill>
            <a:srgbClr val="C8A97E"/>
          </a:solidFill>
          <a:ln w="12700">
            <a:solidFill>
              <a:srgbClr val="C8A97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589520" y="4443984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Migration de vos photos existantes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315200" y="4864608"/>
            <a:ext cx="164592" cy="164592"/>
          </a:xfrm>
          <a:prstGeom prst="ellipse">
            <a:avLst/>
          </a:prstGeom>
          <a:solidFill>
            <a:srgbClr val="C8A97E"/>
          </a:solidFill>
          <a:ln w="12700">
            <a:solidFill>
              <a:srgbClr val="C8A97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589520" y="48280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Formation 3h sur le back-office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315200" y="5248656"/>
            <a:ext cx="164592" cy="164592"/>
          </a:xfrm>
          <a:prstGeom prst="ellipse">
            <a:avLst/>
          </a:prstGeom>
          <a:solidFill>
            <a:srgbClr val="C8A97E"/>
          </a:solidFill>
          <a:ln w="12700">
            <a:solidFill>
              <a:srgbClr val="C8A97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589520" y="521208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Garantie satisfait ou remboursé 30 jours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645920" y="6217920"/>
            <a:ext cx="8869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+ 50 € / mois : hébergement haute disponibilité, sauvegardes quotidiennes, mises à jour de sécurité.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800" kern="0" dirty="0">
                <a:solidFill>
                  <a:srgbClr val="C8A9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POURQUOI MOI ?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 freelance local, transparent, qui livre.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36576" cy="868680"/>
          </a:xfrm>
          <a:prstGeom prst="rect">
            <a:avLst/>
          </a:prstGeom>
          <a:solidFill>
            <a:srgbClr val="C8A97E"/>
          </a:solidFill>
          <a:ln w="12700">
            <a:solidFill>
              <a:srgbClr val="C8A97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201168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Lyonnais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77240" y="2395728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travaille avec des photographes de la métropole. RDV physique possible chaque semaine.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3017520"/>
            <a:ext cx="36576" cy="868680"/>
          </a:xfrm>
          <a:prstGeom prst="rect">
            <a:avLst/>
          </a:prstGeom>
          <a:solidFill>
            <a:srgbClr val="C8A97E"/>
          </a:solidFill>
          <a:ln w="12700">
            <a:solidFill>
              <a:srgbClr val="C8A97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301752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Spécialisé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77240" y="3401568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Cette plateforme, c'est MON produit. Je connais chaque ligne du code, je l'améliore en continu.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4023360"/>
            <a:ext cx="36576" cy="868680"/>
          </a:xfrm>
          <a:prstGeom prst="rect">
            <a:avLst/>
          </a:prstGeom>
          <a:solidFill>
            <a:srgbClr val="C8A97E"/>
          </a:solidFill>
          <a:ln w="12700">
            <a:solidFill>
              <a:srgbClr val="C8A97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402336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Transparent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77240" y="4407408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open-source sur GitHub, démos en vrai, références consultables. Aucune boîte noire.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5029200"/>
            <a:ext cx="36576" cy="868680"/>
          </a:xfrm>
          <a:prstGeom prst="rect">
            <a:avLst/>
          </a:prstGeom>
          <a:solidFill>
            <a:srgbClr val="C8A97E"/>
          </a:solidFill>
          <a:ln w="12700">
            <a:solidFill>
              <a:srgbClr val="C8A97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502920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Réactif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777240" y="5413248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Réponse sous 24h ouvrées garantie. Vous m'appelez, je décroche.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315200" y="2011680"/>
            <a:ext cx="4389120" cy="4023360"/>
          </a:xfrm>
          <a:prstGeom prst="rect">
            <a:avLst/>
          </a:prstGeom>
          <a:solidFill>
            <a:srgbClr val="F8F6F1"/>
          </a:solidFill>
          <a:ln w="12700">
            <a:solidFill>
              <a:srgbClr val="E5E0D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869680" y="2286000"/>
            <a:ext cx="1280160" cy="1280160"/>
          </a:xfrm>
          <a:prstGeom prst="ellipse">
            <a:avLst/>
          </a:prstGeom>
          <a:solidFill>
            <a:srgbClr val="C8A97E"/>
          </a:solidFill>
          <a:ln w="12700">
            <a:solidFill>
              <a:srgbClr val="C8A97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869680" y="2286000"/>
            <a:ext cx="1280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EO</a:t>
            </a:r>
            <a:endParaRPr lang="en-US" sz="4800" dirty="0"/>
          </a:p>
        </p:txBody>
      </p:sp>
      <p:sp>
        <p:nvSpPr>
          <p:cNvPr id="19" name="Text 17"/>
          <p:cNvSpPr/>
          <p:nvPr/>
        </p:nvSpPr>
        <p:spPr>
          <a:xfrm>
            <a:off x="7315200" y="374904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Evan Orofino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7315200" y="425196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Développeur Symfony freelance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8686800" y="4754880"/>
            <a:ext cx="1645920" cy="0"/>
          </a:xfrm>
          <a:prstGeom prst="line">
            <a:avLst/>
          </a:prstGeom>
          <a:noFill/>
          <a:ln w="12700">
            <a:solidFill>
              <a:srgbClr val="C8A97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315200" y="4937760"/>
            <a:ext cx="4389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Lyon, France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7315200" y="5257800"/>
            <a:ext cx="4389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evanorofino.pro@gmail.com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315200" y="5577840"/>
            <a:ext cx="4389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github.com/EvanOROFINO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Photo • Pitch commercial • Evan Orofino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881360" y="649224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800" kern="0" dirty="0">
                <a:solidFill>
                  <a:srgbClr val="C8A9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 MAINTENANT ?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étapes simples pour démarrer.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11480" y="2103120"/>
            <a:ext cx="3566160" cy="3657600"/>
          </a:xfrm>
          <a:prstGeom prst="rect">
            <a:avLst/>
          </a:prstGeom>
          <a:solidFill>
            <a:srgbClr val="F8F6F1"/>
          </a:solidFill>
          <a:ln w="12700">
            <a:solidFill>
              <a:srgbClr val="E5E0D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246888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Étape 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77240" y="2880360"/>
            <a:ext cx="2834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Aujourd'hui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777240" y="3886200"/>
            <a:ext cx="283464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Vous me dites OK. On signe un devis, vous payez 50% d'acompte.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297680" y="2103120"/>
            <a:ext cx="3566160" cy="3657600"/>
          </a:xfrm>
          <a:prstGeom prst="rect">
            <a:avLst/>
          </a:prstGeom>
          <a:solidFill>
            <a:srgbClr val="C8A97E"/>
          </a:solidFill>
          <a:ln w="12700">
            <a:solidFill>
              <a:srgbClr val="C8A97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63440" y="246888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Étape 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663440" y="2880360"/>
            <a:ext cx="2834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Semaine 1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4663440" y="3886200"/>
            <a:ext cx="283464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personnalise la plateforme : votre identité, vos photos, vos prestations, vos tarifs.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183880" y="2103120"/>
            <a:ext cx="3566160" cy="3657600"/>
          </a:xfrm>
          <a:prstGeom prst="rect">
            <a:avLst/>
          </a:prstGeom>
          <a:solidFill>
            <a:srgbClr val="F8F6F1"/>
          </a:solidFill>
          <a:ln w="12700">
            <a:solidFill>
              <a:srgbClr val="E5E0D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549640" y="246888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Étape 3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549640" y="2880360"/>
            <a:ext cx="2834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Semaine 2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8549640" y="3886200"/>
            <a:ext cx="283464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Mise en ligne sur votre domaine, formation 3h, et vous êtes opérationnel.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60350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Démonstration en ligne et devis personnalisé sur simple demande.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Photo • Pitch commercial • Evan Orofino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881360" y="649224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280160"/>
            <a:ext cx="10058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MERCI.</a:t>
            </a:r>
            <a:endParaRPr lang="en-US" sz="11000" dirty="0"/>
          </a:p>
        </p:txBody>
      </p:sp>
      <p:sp>
        <p:nvSpPr>
          <p:cNvPr id="3" name="Text 1"/>
          <p:cNvSpPr/>
          <p:nvPr/>
        </p:nvSpPr>
        <p:spPr>
          <a:xfrm>
            <a:off x="731520" y="301752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Discutons de votre projet — un appel, sans engagement.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3840480"/>
            <a:ext cx="1371600" cy="45720"/>
          </a:xfrm>
          <a:prstGeom prst="rect">
            <a:avLst/>
          </a:prstGeom>
          <a:solidFill>
            <a:srgbClr val="C8A97E"/>
          </a:solidFill>
          <a:ln w="12700">
            <a:solidFill>
              <a:srgbClr val="C8A97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41148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Evan Orofino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45720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8A9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Développeur Symfony freelance — Lyon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52120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evanorofino.pro@gmail.com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56235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github.com/EvanOROFINO/studio-photo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Studio Photo — Pitch commercial</dc:title>
  <dc:subject>Plateforme web métier pour photographe professionnel</dc:subject>
  <dc:creator>Evan Orofino</dc:creator>
  <cp:lastModifiedBy>Evan Orofino</cp:lastModifiedBy>
  <cp:revision>1</cp:revision>
  <dcterms:created xsi:type="dcterms:W3CDTF">2026-05-24T19:20:53Z</dcterms:created>
  <dcterms:modified xsi:type="dcterms:W3CDTF">2026-05-24T19:20:53Z</dcterms:modified>
</cp:coreProperties>
</file>